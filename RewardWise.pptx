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10287000" cx="18288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8VH8VJcMZy9JCL/H+pZQ/EQvkP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mital Kamdi"/>
  <p:cmAuthor clrIdx="1" id="1" initials="" lastIdx="1" name="Pranay Kumar"/>
  <p:cmAuthor clrIdx="2" id="2" initials="" lastIdx="1" name="Anshu Josh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E2AF95-469F-4F96-A0F9-95A82EC5A980}">
  <a:tblStyle styleId="{E3E2AF95-469F-4F96-A0F9-95A82EC5A9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5" Type="http://customschemas.google.com/relationships/presentationmetadata" Target="meta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09T22:16:45.534">
    <p:pos x="1744" y="398"/>
    <p:text>@sarabjit.nagi@gmail.com @autumnlirec@gmail.com @anshujoshi240@gmail.com @pranay.9@gmail.com I will remove this slide as the overview covers this and even have more content for dev in later slides. Thoughts?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0C8Q0W0"/>
      </p:ext>
    </p:extLst>
  </p:cm>
  <p:cm authorId="1" idx="1" dt="2026-02-09T20:54:25.490">
    <p:pos x="1744" y="398"/>
    <p:text>Smital, Agree and if its bringing redundancy we can remove it, I will have Sabby give final thoughts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0C8Q0W8"/>
      </p:ext>
    </p:extLst>
  </p:cm>
  <p:cm authorId="2" idx="1" dt="2026-02-09T22:16:45.534">
    <p:pos x="1744" y="398"/>
    <p:text>@smitalkamdi@gmail.com  My thoughts - I would say we should  have a slide where we show competitor analysis or just a summary of the analysis. Again, let Sabby make a final decision.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0C8Q0X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2-09T18:34:03.213">
    <p:pos x="1618" y="678"/>
    <p:text>@sarabjit.nagi@gmail.com anything to add here on tech expectation from developers. Are we sure about IOS or web?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0CmsOs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68b71d95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68b71d955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6b6ce0fe7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c6b6ce0fe7_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6b6ce0fe7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c6b6ce0fe7_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68b71d95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c68b71d955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68b71d955_0_2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c68b71d955_0_2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c68b71d955_0_2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68b71d955_0_30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c68b71d955_0_30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c68b71d955_0_3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c68b71d955_0_3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c68b71d955_0_3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68b71d955_0_3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c68b71d955_0_30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c68b71d955_0_3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c68b71d955_0_3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c68b71d955_0_3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68b71d955_0_31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c68b71d955_0_31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c68b71d955_0_3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c68b71d955_0_3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c68b71d955_0_3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8b71d955_0_3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c68b71d955_0_3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c68b71d955_0_3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c68b71d955_0_3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c68b71d955_0_3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c68b71d955_0_3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8b71d955_0_3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c68b71d955_0_32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c68b71d955_0_32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c68b71d955_0_32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c68b71d955_0_32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c68b71d955_0_3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c68b71d955_0_3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c68b71d955_0_3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8b71d955_0_3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c68b71d955_0_3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c68b71d955_0_3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c68b71d955_0_3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68b71d955_0_34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c68b71d955_0_34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c68b71d955_0_34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c68b71d955_0_3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c68b71d955_0_3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c68b71d955_0_3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8b71d955_0_34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c68b71d955_0_3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c68b71d955_0_34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c68b71d955_0_3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c68b71d955_0_3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c68b71d955_0_3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68b71d955_0_3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c68b71d955_0_35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c68b71d955_0_3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c68b71d955_0_3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c68b71d955_0_3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8b71d955_0_36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c68b71d955_0_36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c68b71d955_0_3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c68b71d955_0_3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c68b71d955_0_3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8b71d955_0_2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c68b71d955_0_29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c68b71d955_0_2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c68b71d955_0_2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c68b71d955_0_2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g3c68b71d955_0_113"/>
          <p:cNvGrpSpPr/>
          <p:nvPr/>
        </p:nvGrpSpPr>
        <p:grpSpPr>
          <a:xfrm>
            <a:off x="772108" y="1709179"/>
            <a:ext cx="1912499" cy="1740825"/>
            <a:chOff x="0" y="-38100"/>
            <a:chExt cx="503700" cy="458486"/>
          </a:xfrm>
        </p:grpSpPr>
        <p:sp>
          <p:nvSpPr>
            <p:cNvPr id="160" name="Google Shape;160;g3c68b71d955_0_113"/>
            <p:cNvSpPr/>
            <p:nvPr/>
          </p:nvSpPr>
          <p:spPr>
            <a:xfrm>
              <a:off x="0" y="0"/>
              <a:ext cx="503561" cy="420386"/>
            </a:xfrm>
            <a:custGeom>
              <a:rect b="b" l="l" r="r" t="t"/>
              <a:pathLst>
                <a:path extrusionOk="0" h="420386" w="503561">
                  <a:moveTo>
                    <a:pt x="206510" y="0"/>
                  </a:moveTo>
                  <a:lnTo>
                    <a:pt x="297051" y="0"/>
                  </a:lnTo>
                  <a:cubicBezTo>
                    <a:pt x="411103" y="0"/>
                    <a:pt x="503561" y="92458"/>
                    <a:pt x="503561" y="206510"/>
                  </a:cubicBezTo>
                  <a:lnTo>
                    <a:pt x="503561" y="213876"/>
                  </a:lnTo>
                  <a:cubicBezTo>
                    <a:pt x="503561" y="327928"/>
                    <a:pt x="411103" y="420386"/>
                    <a:pt x="297051" y="420386"/>
                  </a:cubicBezTo>
                  <a:lnTo>
                    <a:pt x="206510" y="420386"/>
                  </a:lnTo>
                  <a:cubicBezTo>
                    <a:pt x="92458" y="420386"/>
                    <a:pt x="0" y="327928"/>
                    <a:pt x="0" y="213876"/>
                  </a:cubicBezTo>
                  <a:lnTo>
                    <a:pt x="0" y="206510"/>
                  </a:lnTo>
                  <a:cubicBezTo>
                    <a:pt x="0" y="92458"/>
                    <a:pt x="92458" y="0"/>
                    <a:pt x="206510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3c68b71d955_0_113"/>
            <p:cNvSpPr txBox="1"/>
            <p:nvPr/>
          </p:nvSpPr>
          <p:spPr>
            <a:xfrm>
              <a:off x="0" y="-38100"/>
              <a:ext cx="503700" cy="45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g3c68b71d955_0_113"/>
          <p:cNvSpPr/>
          <p:nvPr/>
        </p:nvSpPr>
        <p:spPr>
          <a:xfrm>
            <a:off x="1283939" y="2274796"/>
            <a:ext cx="888295" cy="754243"/>
          </a:xfrm>
          <a:custGeom>
            <a:rect b="b" l="l" r="r" t="t"/>
            <a:pathLst>
              <a:path extrusionOk="0" h="754243" w="888295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g3c68b71d955_0_113"/>
          <p:cNvSpPr/>
          <p:nvPr/>
        </p:nvSpPr>
        <p:spPr>
          <a:xfrm>
            <a:off x="11660599" y="5494167"/>
            <a:ext cx="1029561" cy="1139353"/>
          </a:xfrm>
          <a:custGeom>
            <a:rect b="b" l="l" r="r" t="t"/>
            <a:pathLst>
              <a:path extrusionOk="0" h="1139353" w="1029561">
                <a:moveTo>
                  <a:pt x="0" y="0"/>
                </a:moveTo>
                <a:lnTo>
                  <a:pt x="1029561" y="0"/>
                </a:lnTo>
                <a:lnTo>
                  <a:pt x="1029561" y="1139354"/>
                </a:lnTo>
                <a:lnTo>
                  <a:pt x="0" y="1139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g3c68b71d955_0_113"/>
          <p:cNvSpPr/>
          <p:nvPr/>
        </p:nvSpPr>
        <p:spPr>
          <a:xfrm>
            <a:off x="5600488" y="6181943"/>
            <a:ext cx="1094734" cy="903156"/>
          </a:xfrm>
          <a:custGeom>
            <a:rect b="b" l="l" r="r" t="t"/>
            <a:pathLst>
              <a:path extrusionOk="0" h="903156" w="1094734">
                <a:moveTo>
                  <a:pt x="0" y="0"/>
                </a:moveTo>
                <a:lnTo>
                  <a:pt x="1094734" y="0"/>
                </a:lnTo>
                <a:lnTo>
                  <a:pt x="1094734" y="903156"/>
                </a:lnTo>
                <a:lnTo>
                  <a:pt x="0" y="903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g3c68b71d955_0_113"/>
          <p:cNvSpPr/>
          <p:nvPr/>
        </p:nvSpPr>
        <p:spPr>
          <a:xfrm>
            <a:off x="8258360" y="8168710"/>
            <a:ext cx="1444709" cy="1377891"/>
          </a:xfrm>
          <a:custGeom>
            <a:rect b="b" l="l" r="r" t="t"/>
            <a:pathLst>
              <a:path extrusionOk="0" h="1377891" w="1444709">
                <a:moveTo>
                  <a:pt x="0" y="0"/>
                </a:moveTo>
                <a:lnTo>
                  <a:pt x="1444709" y="0"/>
                </a:lnTo>
                <a:lnTo>
                  <a:pt x="1444709" y="1377891"/>
                </a:lnTo>
                <a:lnTo>
                  <a:pt x="0" y="1377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g3c68b71d955_0_113"/>
          <p:cNvSpPr txBox="1"/>
          <p:nvPr/>
        </p:nvSpPr>
        <p:spPr>
          <a:xfrm>
            <a:off x="1293967" y="2544439"/>
            <a:ext cx="15700200" cy="2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2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RewardWise</a:t>
            </a:r>
            <a:endParaRPr/>
          </a:p>
        </p:txBody>
      </p:sp>
      <p:sp>
        <p:nvSpPr>
          <p:cNvPr id="167" name="Google Shape;167;g3c68b71d955_0_113"/>
          <p:cNvSpPr txBox="1"/>
          <p:nvPr/>
        </p:nvSpPr>
        <p:spPr>
          <a:xfrm>
            <a:off x="4954393" y="5415604"/>
            <a:ext cx="8052600" cy="26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Stop Wasting </a:t>
            </a:r>
            <a:r>
              <a:rPr lang="en-US" sz="3200">
                <a:solidFill>
                  <a:srgbClr val="1A1A1A"/>
                </a:solidFill>
              </a:rPr>
              <a:t>Days</a:t>
            </a:r>
            <a:endParaRPr/>
          </a:p>
          <a:p>
            <a:pPr indent="0" lvl="0" marL="0" marR="0" rtl="0" algn="ctr">
              <a:lnSpc>
                <a:spcPct val="2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Start Saving Money</a:t>
            </a:r>
            <a:endParaRPr/>
          </a:p>
          <a:p>
            <a:pPr indent="0" lvl="0" marL="0" marR="0" rtl="0" algn="ctr">
              <a:lnSpc>
                <a:spcPct val="2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AI-Powered </a:t>
            </a:r>
            <a:r>
              <a:rPr lang="en-US" sz="3200">
                <a:solidFill>
                  <a:srgbClr val="1A1A1A"/>
                </a:solidFill>
              </a:rPr>
              <a:t>Travel “Wallet” Optimizer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DD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"/>
          <p:cNvGrpSpPr/>
          <p:nvPr/>
        </p:nvGrpSpPr>
        <p:grpSpPr>
          <a:xfrm>
            <a:off x="1028700" y="2735321"/>
            <a:ext cx="3643873" cy="2009101"/>
            <a:chOff x="0" y="-38100"/>
            <a:chExt cx="959703" cy="529146"/>
          </a:xfrm>
        </p:grpSpPr>
        <p:sp>
          <p:nvSpPr>
            <p:cNvPr id="173" name="Google Shape;173;p2"/>
            <p:cNvSpPr/>
            <p:nvPr/>
          </p:nvSpPr>
          <p:spPr>
            <a:xfrm>
              <a:off x="0" y="0"/>
              <a:ext cx="959703" cy="491046"/>
            </a:xfrm>
            <a:custGeom>
              <a:rect b="b" l="l" r="r" t="t"/>
              <a:pathLst>
                <a:path extrusionOk="0" h="491046" w="959703">
                  <a:moveTo>
                    <a:pt x="108357" y="0"/>
                  </a:moveTo>
                  <a:lnTo>
                    <a:pt x="851346" y="0"/>
                  </a:lnTo>
                  <a:cubicBezTo>
                    <a:pt x="880084" y="0"/>
                    <a:pt x="907645" y="11416"/>
                    <a:pt x="927966" y="31737"/>
                  </a:cubicBezTo>
                  <a:cubicBezTo>
                    <a:pt x="948287" y="52058"/>
                    <a:pt x="959703" y="79619"/>
                    <a:pt x="959703" y="108357"/>
                  </a:cubicBezTo>
                  <a:lnTo>
                    <a:pt x="959703" y="382689"/>
                  </a:lnTo>
                  <a:cubicBezTo>
                    <a:pt x="959703" y="442533"/>
                    <a:pt x="911190" y="491046"/>
                    <a:pt x="851346" y="491046"/>
                  </a:cubicBezTo>
                  <a:lnTo>
                    <a:pt x="108357" y="491046"/>
                  </a:lnTo>
                  <a:cubicBezTo>
                    <a:pt x="48513" y="491046"/>
                    <a:pt x="0" y="442533"/>
                    <a:pt x="0" y="382689"/>
                  </a:cubicBezTo>
                  <a:lnTo>
                    <a:pt x="0" y="108357"/>
                  </a:lnTo>
                  <a:cubicBezTo>
                    <a:pt x="0" y="48513"/>
                    <a:pt x="48513" y="0"/>
                    <a:pt x="10835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 txBox="1"/>
            <p:nvPr/>
          </p:nvSpPr>
          <p:spPr>
            <a:xfrm>
              <a:off x="0" y="-38100"/>
              <a:ext cx="959703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2"/>
          <p:cNvGrpSpPr/>
          <p:nvPr/>
        </p:nvGrpSpPr>
        <p:grpSpPr>
          <a:xfrm>
            <a:off x="1907014" y="2060318"/>
            <a:ext cx="1887245" cy="1243527"/>
            <a:chOff x="0" y="-38100"/>
            <a:chExt cx="406340" cy="267742"/>
          </a:xfrm>
        </p:grpSpPr>
        <p:sp>
          <p:nvSpPr>
            <p:cNvPr id="176" name="Google Shape;176;p2"/>
            <p:cNvSpPr/>
            <p:nvPr/>
          </p:nvSpPr>
          <p:spPr>
            <a:xfrm>
              <a:off x="0" y="0"/>
              <a:ext cx="406340" cy="229642"/>
            </a:xfrm>
            <a:custGeom>
              <a:rect b="b" l="l" r="r" t="t"/>
              <a:pathLst>
                <a:path extrusionOk="0" h="229642" w="406340">
                  <a:moveTo>
                    <a:pt x="114821" y="0"/>
                  </a:moveTo>
                  <a:lnTo>
                    <a:pt x="291519" y="0"/>
                  </a:lnTo>
                  <a:cubicBezTo>
                    <a:pt x="354933" y="0"/>
                    <a:pt x="406340" y="51407"/>
                    <a:pt x="406340" y="114821"/>
                  </a:cubicBezTo>
                  <a:lnTo>
                    <a:pt x="406340" y="114821"/>
                  </a:lnTo>
                  <a:cubicBezTo>
                    <a:pt x="406340" y="178235"/>
                    <a:pt x="354933" y="229642"/>
                    <a:pt x="291519" y="229642"/>
                  </a:cubicBezTo>
                  <a:lnTo>
                    <a:pt x="114821" y="229642"/>
                  </a:lnTo>
                  <a:cubicBezTo>
                    <a:pt x="51407" y="229642"/>
                    <a:pt x="0" y="178235"/>
                    <a:pt x="0" y="114821"/>
                  </a:cubicBezTo>
                  <a:lnTo>
                    <a:pt x="0" y="114821"/>
                  </a:lnTo>
                  <a:cubicBezTo>
                    <a:pt x="0" y="51407"/>
                    <a:pt x="51407" y="0"/>
                    <a:pt x="114821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0" y="-38100"/>
              <a:ext cx="406340" cy="2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"/>
          <p:cNvSpPr txBox="1"/>
          <p:nvPr/>
        </p:nvSpPr>
        <p:spPr>
          <a:xfrm>
            <a:off x="622356" y="3733314"/>
            <a:ext cx="445656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2079111" y="2398970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0" name="Google Shape;180;p2"/>
          <p:cNvSpPr txBox="1"/>
          <p:nvPr/>
        </p:nvSpPr>
        <p:spPr>
          <a:xfrm>
            <a:off x="1028700" y="971550"/>
            <a:ext cx="445656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grpSp>
        <p:nvGrpSpPr>
          <p:cNvPr id="181" name="Google Shape;181;p2"/>
          <p:cNvGrpSpPr/>
          <p:nvPr/>
        </p:nvGrpSpPr>
        <p:grpSpPr>
          <a:xfrm>
            <a:off x="5078917" y="2735321"/>
            <a:ext cx="3643873" cy="2009101"/>
            <a:chOff x="0" y="-38100"/>
            <a:chExt cx="959703" cy="529146"/>
          </a:xfrm>
        </p:grpSpPr>
        <p:sp>
          <p:nvSpPr>
            <p:cNvPr id="182" name="Google Shape;182;p2"/>
            <p:cNvSpPr/>
            <p:nvPr/>
          </p:nvSpPr>
          <p:spPr>
            <a:xfrm>
              <a:off x="0" y="0"/>
              <a:ext cx="959703" cy="491046"/>
            </a:xfrm>
            <a:custGeom>
              <a:rect b="b" l="l" r="r" t="t"/>
              <a:pathLst>
                <a:path extrusionOk="0" h="491046" w="959703">
                  <a:moveTo>
                    <a:pt x="108357" y="0"/>
                  </a:moveTo>
                  <a:lnTo>
                    <a:pt x="851346" y="0"/>
                  </a:lnTo>
                  <a:cubicBezTo>
                    <a:pt x="880084" y="0"/>
                    <a:pt x="907645" y="11416"/>
                    <a:pt x="927966" y="31737"/>
                  </a:cubicBezTo>
                  <a:cubicBezTo>
                    <a:pt x="948287" y="52058"/>
                    <a:pt x="959703" y="79619"/>
                    <a:pt x="959703" y="108357"/>
                  </a:cubicBezTo>
                  <a:lnTo>
                    <a:pt x="959703" y="382689"/>
                  </a:lnTo>
                  <a:cubicBezTo>
                    <a:pt x="959703" y="442533"/>
                    <a:pt x="911190" y="491046"/>
                    <a:pt x="851346" y="491046"/>
                  </a:cubicBezTo>
                  <a:lnTo>
                    <a:pt x="108357" y="491046"/>
                  </a:lnTo>
                  <a:cubicBezTo>
                    <a:pt x="48513" y="491046"/>
                    <a:pt x="0" y="442533"/>
                    <a:pt x="0" y="382689"/>
                  </a:cubicBezTo>
                  <a:lnTo>
                    <a:pt x="0" y="108357"/>
                  </a:lnTo>
                  <a:cubicBezTo>
                    <a:pt x="0" y="48513"/>
                    <a:pt x="48513" y="0"/>
                    <a:pt x="10835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0" y="-38100"/>
              <a:ext cx="959703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2"/>
          <p:cNvGrpSpPr/>
          <p:nvPr/>
        </p:nvGrpSpPr>
        <p:grpSpPr>
          <a:xfrm>
            <a:off x="5957231" y="2060318"/>
            <a:ext cx="1887245" cy="1243527"/>
            <a:chOff x="0" y="-38100"/>
            <a:chExt cx="406340" cy="267742"/>
          </a:xfrm>
        </p:grpSpPr>
        <p:sp>
          <p:nvSpPr>
            <p:cNvPr id="185" name="Google Shape;185;p2"/>
            <p:cNvSpPr/>
            <p:nvPr/>
          </p:nvSpPr>
          <p:spPr>
            <a:xfrm>
              <a:off x="0" y="0"/>
              <a:ext cx="406340" cy="229642"/>
            </a:xfrm>
            <a:custGeom>
              <a:rect b="b" l="l" r="r" t="t"/>
              <a:pathLst>
                <a:path extrusionOk="0" h="229642" w="406340">
                  <a:moveTo>
                    <a:pt x="114821" y="0"/>
                  </a:moveTo>
                  <a:lnTo>
                    <a:pt x="291519" y="0"/>
                  </a:lnTo>
                  <a:cubicBezTo>
                    <a:pt x="354933" y="0"/>
                    <a:pt x="406340" y="51407"/>
                    <a:pt x="406340" y="114821"/>
                  </a:cubicBezTo>
                  <a:lnTo>
                    <a:pt x="406340" y="114821"/>
                  </a:lnTo>
                  <a:cubicBezTo>
                    <a:pt x="406340" y="178235"/>
                    <a:pt x="354933" y="229642"/>
                    <a:pt x="291519" y="229642"/>
                  </a:cubicBezTo>
                  <a:lnTo>
                    <a:pt x="114821" y="229642"/>
                  </a:lnTo>
                  <a:cubicBezTo>
                    <a:pt x="51407" y="229642"/>
                    <a:pt x="0" y="178235"/>
                    <a:pt x="0" y="114821"/>
                  </a:cubicBezTo>
                  <a:lnTo>
                    <a:pt x="0" y="114821"/>
                  </a:lnTo>
                  <a:cubicBezTo>
                    <a:pt x="0" y="51407"/>
                    <a:pt x="51407" y="0"/>
                    <a:pt x="114821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-38100"/>
              <a:ext cx="406340" cy="267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2"/>
          <p:cNvSpPr txBox="1"/>
          <p:nvPr/>
        </p:nvSpPr>
        <p:spPr>
          <a:xfrm>
            <a:off x="6129328" y="2398970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4672573" y="3461852"/>
            <a:ext cx="445656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Persona</a:t>
            </a:r>
            <a:endParaRPr/>
          </a:p>
        </p:txBody>
      </p:sp>
      <p:grpSp>
        <p:nvGrpSpPr>
          <p:cNvPr id="189" name="Google Shape;189;p2"/>
          <p:cNvGrpSpPr/>
          <p:nvPr/>
        </p:nvGrpSpPr>
        <p:grpSpPr>
          <a:xfrm>
            <a:off x="13373924" y="2735321"/>
            <a:ext cx="4227036" cy="2009101"/>
            <a:chOff x="0" y="-38100"/>
            <a:chExt cx="1113293" cy="529146"/>
          </a:xfrm>
        </p:grpSpPr>
        <p:sp>
          <p:nvSpPr>
            <p:cNvPr id="190" name="Google Shape;190;p2"/>
            <p:cNvSpPr/>
            <p:nvPr/>
          </p:nvSpPr>
          <p:spPr>
            <a:xfrm>
              <a:off x="0" y="0"/>
              <a:ext cx="1113293" cy="491046"/>
            </a:xfrm>
            <a:custGeom>
              <a:rect b="b" l="l" r="r" t="t"/>
              <a:pathLst>
                <a:path extrusionOk="0" h="491046" w="1113293">
                  <a:moveTo>
                    <a:pt x="93408" y="0"/>
                  </a:moveTo>
                  <a:lnTo>
                    <a:pt x="1019886" y="0"/>
                  </a:lnTo>
                  <a:cubicBezTo>
                    <a:pt x="1044659" y="0"/>
                    <a:pt x="1068418" y="9841"/>
                    <a:pt x="1085935" y="27358"/>
                  </a:cubicBezTo>
                  <a:cubicBezTo>
                    <a:pt x="1103452" y="44876"/>
                    <a:pt x="1113293" y="68634"/>
                    <a:pt x="1113293" y="93408"/>
                  </a:cubicBezTo>
                  <a:lnTo>
                    <a:pt x="1113293" y="397638"/>
                  </a:lnTo>
                  <a:cubicBezTo>
                    <a:pt x="1113293" y="422411"/>
                    <a:pt x="1103452" y="446170"/>
                    <a:pt x="1085935" y="463687"/>
                  </a:cubicBezTo>
                  <a:cubicBezTo>
                    <a:pt x="1068418" y="481205"/>
                    <a:pt x="1044659" y="491046"/>
                    <a:pt x="1019886" y="491046"/>
                  </a:cubicBezTo>
                  <a:lnTo>
                    <a:pt x="93408" y="491046"/>
                  </a:lnTo>
                  <a:cubicBezTo>
                    <a:pt x="41820" y="491046"/>
                    <a:pt x="0" y="449226"/>
                    <a:pt x="0" y="397638"/>
                  </a:cubicBezTo>
                  <a:lnTo>
                    <a:pt x="0" y="93408"/>
                  </a:lnTo>
                  <a:cubicBezTo>
                    <a:pt x="0" y="68634"/>
                    <a:pt x="9841" y="44876"/>
                    <a:pt x="27358" y="27358"/>
                  </a:cubicBezTo>
                  <a:cubicBezTo>
                    <a:pt x="44876" y="9841"/>
                    <a:pt x="68634" y="0"/>
                    <a:pt x="9340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0" y="-38100"/>
              <a:ext cx="1113293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2"/>
          <p:cNvSpPr txBox="1"/>
          <p:nvPr/>
        </p:nvSpPr>
        <p:spPr>
          <a:xfrm>
            <a:off x="13509767" y="3461852"/>
            <a:ext cx="3955351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Voice of Customer Results</a:t>
            </a:r>
            <a:endParaRPr/>
          </a:p>
        </p:txBody>
      </p:sp>
      <p:grpSp>
        <p:nvGrpSpPr>
          <p:cNvPr id="193" name="Google Shape;193;p2"/>
          <p:cNvGrpSpPr/>
          <p:nvPr/>
        </p:nvGrpSpPr>
        <p:grpSpPr>
          <a:xfrm>
            <a:off x="14424336" y="1966690"/>
            <a:ext cx="1887245" cy="1266267"/>
            <a:chOff x="0" y="-38100"/>
            <a:chExt cx="406340" cy="272638"/>
          </a:xfrm>
        </p:grpSpPr>
        <p:sp>
          <p:nvSpPr>
            <p:cNvPr id="194" name="Google Shape;194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0" y="-38100"/>
              <a:ext cx="406340" cy="272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2"/>
          <p:cNvSpPr txBox="1"/>
          <p:nvPr/>
        </p:nvSpPr>
        <p:spPr>
          <a:xfrm>
            <a:off x="14596433" y="2328082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grpSp>
        <p:nvGrpSpPr>
          <p:cNvPr id="197" name="Google Shape;197;p2"/>
          <p:cNvGrpSpPr/>
          <p:nvPr/>
        </p:nvGrpSpPr>
        <p:grpSpPr>
          <a:xfrm>
            <a:off x="8934839" y="2735321"/>
            <a:ext cx="4227036" cy="2009101"/>
            <a:chOff x="0" y="-38100"/>
            <a:chExt cx="1113293" cy="529146"/>
          </a:xfrm>
        </p:grpSpPr>
        <p:sp>
          <p:nvSpPr>
            <p:cNvPr id="198" name="Google Shape;198;p2"/>
            <p:cNvSpPr/>
            <p:nvPr/>
          </p:nvSpPr>
          <p:spPr>
            <a:xfrm>
              <a:off x="0" y="0"/>
              <a:ext cx="1113293" cy="491046"/>
            </a:xfrm>
            <a:custGeom>
              <a:rect b="b" l="l" r="r" t="t"/>
              <a:pathLst>
                <a:path extrusionOk="0" h="491046" w="1113293">
                  <a:moveTo>
                    <a:pt x="93408" y="0"/>
                  </a:moveTo>
                  <a:lnTo>
                    <a:pt x="1019886" y="0"/>
                  </a:lnTo>
                  <a:cubicBezTo>
                    <a:pt x="1044659" y="0"/>
                    <a:pt x="1068418" y="9841"/>
                    <a:pt x="1085935" y="27358"/>
                  </a:cubicBezTo>
                  <a:cubicBezTo>
                    <a:pt x="1103452" y="44876"/>
                    <a:pt x="1113293" y="68634"/>
                    <a:pt x="1113293" y="93408"/>
                  </a:cubicBezTo>
                  <a:lnTo>
                    <a:pt x="1113293" y="397638"/>
                  </a:lnTo>
                  <a:cubicBezTo>
                    <a:pt x="1113293" y="422411"/>
                    <a:pt x="1103452" y="446170"/>
                    <a:pt x="1085935" y="463687"/>
                  </a:cubicBezTo>
                  <a:cubicBezTo>
                    <a:pt x="1068418" y="481205"/>
                    <a:pt x="1044659" y="491046"/>
                    <a:pt x="1019886" y="491046"/>
                  </a:cubicBezTo>
                  <a:lnTo>
                    <a:pt x="93408" y="491046"/>
                  </a:lnTo>
                  <a:cubicBezTo>
                    <a:pt x="41820" y="491046"/>
                    <a:pt x="0" y="449226"/>
                    <a:pt x="0" y="397638"/>
                  </a:cubicBezTo>
                  <a:lnTo>
                    <a:pt x="0" y="93408"/>
                  </a:lnTo>
                  <a:cubicBezTo>
                    <a:pt x="0" y="68634"/>
                    <a:pt x="9841" y="44876"/>
                    <a:pt x="27358" y="27358"/>
                  </a:cubicBezTo>
                  <a:cubicBezTo>
                    <a:pt x="44876" y="9841"/>
                    <a:pt x="68634" y="0"/>
                    <a:pt x="9340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0" y="-38100"/>
              <a:ext cx="1113293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2"/>
          <p:cNvSpPr txBox="1"/>
          <p:nvPr/>
        </p:nvSpPr>
        <p:spPr>
          <a:xfrm>
            <a:off x="9070682" y="3461852"/>
            <a:ext cx="3955351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Competitive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/>
          </a:p>
        </p:txBody>
      </p:sp>
      <p:grpSp>
        <p:nvGrpSpPr>
          <p:cNvPr id="201" name="Google Shape;201;p2"/>
          <p:cNvGrpSpPr/>
          <p:nvPr/>
        </p:nvGrpSpPr>
        <p:grpSpPr>
          <a:xfrm>
            <a:off x="9985250" y="1966690"/>
            <a:ext cx="1887245" cy="1266267"/>
            <a:chOff x="0" y="-38100"/>
            <a:chExt cx="406340" cy="272638"/>
          </a:xfrm>
        </p:grpSpPr>
        <p:sp>
          <p:nvSpPr>
            <p:cNvPr id="202" name="Google Shape;202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"/>
            <p:cNvSpPr txBox="1"/>
            <p:nvPr/>
          </p:nvSpPr>
          <p:spPr>
            <a:xfrm>
              <a:off x="0" y="-38100"/>
              <a:ext cx="406340" cy="272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"/>
          <p:cNvSpPr txBox="1"/>
          <p:nvPr/>
        </p:nvSpPr>
        <p:spPr>
          <a:xfrm>
            <a:off x="10157348" y="2328082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grpSp>
        <p:nvGrpSpPr>
          <p:cNvPr id="205" name="Google Shape;205;p2"/>
          <p:cNvGrpSpPr/>
          <p:nvPr/>
        </p:nvGrpSpPr>
        <p:grpSpPr>
          <a:xfrm>
            <a:off x="851880" y="6713930"/>
            <a:ext cx="4227036" cy="2009101"/>
            <a:chOff x="0" y="-38100"/>
            <a:chExt cx="1113293" cy="529146"/>
          </a:xfrm>
        </p:grpSpPr>
        <p:sp>
          <p:nvSpPr>
            <p:cNvPr id="206" name="Google Shape;206;p2"/>
            <p:cNvSpPr/>
            <p:nvPr/>
          </p:nvSpPr>
          <p:spPr>
            <a:xfrm>
              <a:off x="0" y="0"/>
              <a:ext cx="1113293" cy="491046"/>
            </a:xfrm>
            <a:custGeom>
              <a:rect b="b" l="l" r="r" t="t"/>
              <a:pathLst>
                <a:path extrusionOk="0" h="491046" w="1113293">
                  <a:moveTo>
                    <a:pt x="93408" y="0"/>
                  </a:moveTo>
                  <a:lnTo>
                    <a:pt x="1019886" y="0"/>
                  </a:lnTo>
                  <a:cubicBezTo>
                    <a:pt x="1044659" y="0"/>
                    <a:pt x="1068418" y="9841"/>
                    <a:pt x="1085935" y="27358"/>
                  </a:cubicBezTo>
                  <a:cubicBezTo>
                    <a:pt x="1103452" y="44876"/>
                    <a:pt x="1113293" y="68634"/>
                    <a:pt x="1113293" y="93408"/>
                  </a:cubicBezTo>
                  <a:lnTo>
                    <a:pt x="1113293" y="397638"/>
                  </a:lnTo>
                  <a:cubicBezTo>
                    <a:pt x="1113293" y="422411"/>
                    <a:pt x="1103452" y="446170"/>
                    <a:pt x="1085935" y="463687"/>
                  </a:cubicBezTo>
                  <a:cubicBezTo>
                    <a:pt x="1068418" y="481205"/>
                    <a:pt x="1044659" y="491046"/>
                    <a:pt x="1019886" y="491046"/>
                  </a:cubicBezTo>
                  <a:lnTo>
                    <a:pt x="93408" y="491046"/>
                  </a:lnTo>
                  <a:cubicBezTo>
                    <a:pt x="41820" y="491046"/>
                    <a:pt x="0" y="449226"/>
                    <a:pt x="0" y="397638"/>
                  </a:cubicBezTo>
                  <a:lnTo>
                    <a:pt x="0" y="93408"/>
                  </a:lnTo>
                  <a:cubicBezTo>
                    <a:pt x="0" y="68634"/>
                    <a:pt x="9841" y="44876"/>
                    <a:pt x="27358" y="27358"/>
                  </a:cubicBezTo>
                  <a:cubicBezTo>
                    <a:pt x="44876" y="9841"/>
                    <a:pt x="68634" y="0"/>
                    <a:pt x="9340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 txBox="1"/>
            <p:nvPr/>
          </p:nvSpPr>
          <p:spPr>
            <a:xfrm>
              <a:off x="0" y="-38100"/>
              <a:ext cx="1113293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2"/>
          <p:cNvSpPr txBox="1"/>
          <p:nvPr/>
        </p:nvSpPr>
        <p:spPr>
          <a:xfrm>
            <a:off x="737118" y="7373491"/>
            <a:ext cx="445656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Hypothesis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Validation Results</a:t>
            </a:r>
            <a:endParaRPr/>
          </a:p>
        </p:txBody>
      </p:sp>
      <p:grpSp>
        <p:nvGrpSpPr>
          <p:cNvPr id="209" name="Google Shape;209;p2"/>
          <p:cNvGrpSpPr/>
          <p:nvPr/>
        </p:nvGrpSpPr>
        <p:grpSpPr>
          <a:xfrm>
            <a:off x="1902292" y="5945299"/>
            <a:ext cx="1887245" cy="1266267"/>
            <a:chOff x="0" y="-38100"/>
            <a:chExt cx="406340" cy="272638"/>
          </a:xfrm>
        </p:grpSpPr>
        <p:sp>
          <p:nvSpPr>
            <p:cNvPr id="210" name="Google Shape;210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 txBox="1"/>
            <p:nvPr/>
          </p:nvSpPr>
          <p:spPr>
            <a:xfrm>
              <a:off x="0" y="-38100"/>
              <a:ext cx="406340" cy="272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2"/>
          <p:cNvSpPr txBox="1"/>
          <p:nvPr/>
        </p:nvSpPr>
        <p:spPr>
          <a:xfrm>
            <a:off x="2074389" y="6306691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grpSp>
        <p:nvGrpSpPr>
          <p:cNvPr id="213" name="Google Shape;213;p2"/>
          <p:cNvGrpSpPr/>
          <p:nvPr/>
        </p:nvGrpSpPr>
        <p:grpSpPr>
          <a:xfrm>
            <a:off x="5308441" y="6702879"/>
            <a:ext cx="3414349" cy="2009101"/>
            <a:chOff x="0" y="-38100"/>
            <a:chExt cx="899252" cy="529146"/>
          </a:xfrm>
        </p:grpSpPr>
        <p:sp>
          <p:nvSpPr>
            <p:cNvPr id="214" name="Google Shape;214;p2"/>
            <p:cNvSpPr/>
            <p:nvPr/>
          </p:nvSpPr>
          <p:spPr>
            <a:xfrm>
              <a:off x="0" y="0"/>
              <a:ext cx="899252" cy="491046"/>
            </a:xfrm>
            <a:custGeom>
              <a:rect b="b" l="l" r="r" t="t"/>
              <a:pathLst>
                <a:path extrusionOk="0" h="491046" w="899252">
                  <a:moveTo>
                    <a:pt x="115641" y="0"/>
                  </a:moveTo>
                  <a:lnTo>
                    <a:pt x="783612" y="0"/>
                  </a:lnTo>
                  <a:cubicBezTo>
                    <a:pt x="847478" y="0"/>
                    <a:pt x="899252" y="51774"/>
                    <a:pt x="899252" y="115641"/>
                  </a:cubicBezTo>
                  <a:lnTo>
                    <a:pt x="899252" y="375405"/>
                  </a:lnTo>
                  <a:cubicBezTo>
                    <a:pt x="899252" y="439272"/>
                    <a:pt x="847478" y="491046"/>
                    <a:pt x="783612" y="491046"/>
                  </a:cubicBezTo>
                  <a:lnTo>
                    <a:pt x="115641" y="491046"/>
                  </a:lnTo>
                  <a:cubicBezTo>
                    <a:pt x="51774" y="491046"/>
                    <a:pt x="0" y="439272"/>
                    <a:pt x="0" y="375405"/>
                  </a:cubicBezTo>
                  <a:lnTo>
                    <a:pt x="0" y="115641"/>
                  </a:lnTo>
                  <a:cubicBezTo>
                    <a:pt x="0" y="51774"/>
                    <a:pt x="51774" y="0"/>
                    <a:pt x="11564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 txBox="1"/>
            <p:nvPr/>
          </p:nvSpPr>
          <p:spPr>
            <a:xfrm>
              <a:off x="0" y="-38100"/>
              <a:ext cx="899252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"/>
          <p:cNvSpPr txBox="1"/>
          <p:nvPr/>
        </p:nvSpPr>
        <p:spPr>
          <a:xfrm>
            <a:off x="4787335" y="7571990"/>
            <a:ext cx="445656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grpSp>
        <p:nvGrpSpPr>
          <p:cNvPr id="217" name="Google Shape;217;p2"/>
          <p:cNvGrpSpPr/>
          <p:nvPr/>
        </p:nvGrpSpPr>
        <p:grpSpPr>
          <a:xfrm>
            <a:off x="6129328" y="5945299"/>
            <a:ext cx="1887245" cy="1266267"/>
            <a:chOff x="0" y="-38100"/>
            <a:chExt cx="406340" cy="272638"/>
          </a:xfrm>
        </p:grpSpPr>
        <p:sp>
          <p:nvSpPr>
            <p:cNvPr id="218" name="Google Shape;218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 txBox="1"/>
            <p:nvPr/>
          </p:nvSpPr>
          <p:spPr>
            <a:xfrm>
              <a:off x="0" y="-38100"/>
              <a:ext cx="406340" cy="272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2"/>
          <p:cNvSpPr txBox="1"/>
          <p:nvPr/>
        </p:nvSpPr>
        <p:spPr>
          <a:xfrm>
            <a:off x="6301426" y="6306691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grpSp>
        <p:nvGrpSpPr>
          <p:cNvPr id="221" name="Google Shape;221;p2"/>
          <p:cNvGrpSpPr/>
          <p:nvPr/>
        </p:nvGrpSpPr>
        <p:grpSpPr>
          <a:xfrm>
            <a:off x="9070682" y="6641023"/>
            <a:ext cx="4091193" cy="2009101"/>
            <a:chOff x="0" y="-38100"/>
            <a:chExt cx="1077516" cy="529146"/>
          </a:xfrm>
        </p:grpSpPr>
        <p:sp>
          <p:nvSpPr>
            <p:cNvPr id="222" name="Google Shape;222;p2"/>
            <p:cNvSpPr/>
            <p:nvPr/>
          </p:nvSpPr>
          <p:spPr>
            <a:xfrm>
              <a:off x="0" y="0"/>
              <a:ext cx="1077516" cy="491046"/>
            </a:xfrm>
            <a:custGeom>
              <a:rect b="b" l="l" r="r" t="t"/>
              <a:pathLst>
                <a:path extrusionOk="0" h="491046" w="1077516">
                  <a:moveTo>
                    <a:pt x="96509" y="0"/>
                  </a:moveTo>
                  <a:lnTo>
                    <a:pt x="981007" y="0"/>
                  </a:lnTo>
                  <a:cubicBezTo>
                    <a:pt x="1034307" y="0"/>
                    <a:pt x="1077516" y="43209"/>
                    <a:pt x="1077516" y="96509"/>
                  </a:cubicBezTo>
                  <a:lnTo>
                    <a:pt x="1077516" y="394537"/>
                  </a:lnTo>
                  <a:cubicBezTo>
                    <a:pt x="1077516" y="447837"/>
                    <a:pt x="1034307" y="491046"/>
                    <a:pt x="981007" y="491046"/>
                  </a:cubicBezTo>
                  <a:lnTo>
                    <a:pt x="96509" y="491046"/>
                  </a:lnTo>
                  <a:cubicBezTo>
                    <a:pt x="43209" y="491046"/>
                    <a:pt x="0" y="447837"/>
                    <a:pt x="0" y="394537"/>
                  </a:cubicBezTo>
                  <a:lnTo>
                    <a:pt x="0" y="96509"/>
                  </a:lnTo>
                  <a:cubicBezTo>
                    <a:pt x="0" y="43209"/>
                    <a:pt x="43209" y="0"/>
                    <a:pt x="9650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 txBox="1"/>
            <p:nvPr/>
          </p:nvSpPr>
          <p:spPr>
            <a:xfrm>
              <a:off x="0" y="-38100"/>
              <a:ext cx="1077516" cy="52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2"/>
          <p:cNvSpPr txBox="1"/>
          <p:nvPr/>
        </p:nvSpPr>
        <p:spPr>
          <a:xfrm>
            <a:off x="8934839" y="7576809"/>
            <a:ext cx="445656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Mockup</a:t>
            </a:r>
            <a:endParaRPr/>
          </a:p>
        </p:txBody>
      </p:sp>
      <p:grpSp>
        <p:nvGrpSpPr>
          <p:cNvPr id="225" name="Google Shape;225;p2"/>
          <p:cNvGrpSpPr/>
          <p:nvPr/>
        </p:nvGrpSpPr>
        <p:grpSpPr>
          <a:xfrm>
            <a:off x="10237265" y="5945299"/>
            <a:ext cx="1887245" cy="1266267"/>
            <a:chOff x="0" y="-38100"/>
            <a:chExt cx="406340" cy="272638"/>
          </a:xfrm>
        </p:grpSpPr>
        <p:sp>
          <p:nvSpPr>
            <p:cNvPr id="226" name="Google Shape;226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 txBox="1"/>
            <p:nvPr/>
          </p:nvSpPr>
          <p:spPr>
            <a:xfrm>
              <a:off x="0" y="-38100"/>
              <a:ext cx="406340" cy="272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"/>
          <p:cNvSpPr txBox="1"/>
          <p:nvPr/>
        </p:nvSpPr>
        <p:spPr>
          <a:xfrm>
            <a:off x="10418240" y="6290673"/>
            <a:ext cx="1543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grpSp>
        <p:nvGrpSpPr>
          <p:cNvPr id="229" name="Google Shape;229;p2"/>
          <p:cNvGrpSpPr/>
          <p:nvPr/>
        </p:nvGrpSpPr>
        <p:grpSpPr>
          <a:xfrm>
            <a:off x="13645582" y="6641022"/>
            <a:ext cx="4091539" cy="2009319"/>
            <a:chOff x="0" y="-38100"/>
            <a:chExt cx="1077600" cy="529200"/>
          </a:xfrm>
        </p:grpSpPr>
        <p:sp>
          <p:nvSpPr>
            <p:cNvPr id="230" name="Google Shape;230;p2"/>
            <p:cNvSpPr/>
            <p:nvPr/>
          </p:nvSpPr>
          <p:spPr>
            <a:xfrm>
              <a:off x="0" y="0"/>
              <a:ext cx="1077516" cy="491046"/>
            </a:xfrm>
            <a:custGeom>
              <a:rect b="b" l="l" r="r" t="t"/>
              <a:pathLst>
                <a:path extrusionOk="0" h="491046" w="1077516">
                  <a:moveTo>
                    <a:pt x="96509" y="0"/>
                  </a:moveTo>
                  <a:lnTo>
                    <a:pt x="981007" y="0"/>
                  </a:lnTo>
                  <a:cubicBezTo>
                    <a:pt x="1034307" y="0"/>
                    <a:pt x="1077516" y="43209"/>
                    <a:pt x="1077516" y="96509"/>
                  </a:cubicBezTo>
                  <a:lnTo>
                    <a:pt x="1077516" y="394537"/>
                  </a:lnTo>
                  <a:cubicBezTo>
                    <a:pt x="1077516" y="447837"/>
                    <a:pt x="1034307" y="491046"/>
                    <a:pt x="981007" y="491046"/>
                  </a:cubicBezTo>
                  <a:lnTo>
                    <a:pt x="96509" y="491046"/>
                  </a:lnTo>
                  <a:cubicBezTo>
                    <a:pt x="43209" y="491046"/>
                    <a:pt x="0" y="447837"/>
                    <a:pt x="0" y="394537"/>
                  </a:cubicBezTo>
                  <a:lnTo>
                    <a:pt x="0" y="96509"/>
                  </a:lnTo>
                  <a:cubicBezTo>
                    <a:pt x="0" y="43209"/>
                    <a:pt x="43209" y="0"/>
                    <a:pt x="9650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"/>
            <p:cNvSpPr txBox="1"/>
            <p:nvPr/>
          </p:nvSpPr>
          <p:spPr>
            <a:xfrm>
              <a:off x="0" y="-38100"/>
              <a:ext cx="10776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2"/>
          <p:cNvSpPr txBox="1"/>
          <p:nvPr/>
        </p:nvSpPr>
        <p:spPr>
          <a:xfrm>
            <a:off x="13509739" y="7325884"/>
            <a:ext cx="4456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A1A1A"/>
                </a:solidFill>
              </a:rPr>
              <a:t>Skills &amp; </a:t>
            </a:r>
            <a:endParaRPr sz="3600">
              <a:solidFill>
                <a:srgbClr val="1A1A1A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A1A1A"/>
                </a:solidFill>
              </a:rPr>
              <a:t>Expectations</a:t>
            </a:r>
            <a:endParaRPr/>
          </a:p>
        </p:txBody>
      </p:sp>
      <p:grpSp>
        <p:nvGrpSpPr>
          <p:cNvPr id="233" name="Google Shape;233;p2"/>
          <p:cNvGrpSpPr/>
          <p:nvPr/>
        </p:nvGrpSpPr>
        <p:grpSpPr>
          <a:xfrm>
            <a:off x="14812165" y="5945299"/>
            <a:ext cx="1887246" cy="1266555"/>
            <a:chOff x="0" y="-38100"/>
            <a:chExt cx="406340" cy="272700"/>
          </a:xfrm>
        </p:grpSpPr>
        <p:sp>
          <p:nvSpPr>
            <p:cNvPr id="234" name="Google Shape;234;p2"/>
            <p:cNvSpPr/>
            <p:nvPr/>
          </p:nvSpPr>
          <p:spPr>
            <a:xfrm>
              <a:off x="0" y="0"/>
              <a:ext cx="406340" cy="234538"/>
            </a:xfrm>
            <a:custGeom>
              <a:rect b="b" l="l" r="r" t="t"/>
              <a:pathLst>
                <a:path extrusionOk="0" h="234538" w="406340">
                  <a:moveTo>
                    <a:pt x="117269" y="0"/>
                  </a:moveTo>
                  <a:lnTo>
                    <a:pt x="289071" y="0"/>
                  </a:lnTo>
                  <a:cubicBezTo>
                    <a:pt x="320173" y="0"/>
                    <a:pt x="350001" y="12355"/>
                    <a:pt x="371993" y="34347"/>
                  </a:cubicBezTo>
                  <a:cubicBezTo>
                    <a:pt x="393985" y="56340"/>
                    <a:pt x="406340" y="86167"/>
                    <a:pt x="406340" y="117269"/>
                  </a:cubicBezTo>
                  <a:lnTo>
                    <a:pt x="406340" y="117269"/>
                  </a:lnTo>
                  <a:cubicBezTo>
                    <a:pt x="406340" y="182035"/>
                    <a:pt x="353837" y="234538"/>
                    <a:pt x="289071" y="234538"/>
                  </a:cubicBezTo>
                  <a:lnTo>
                    <a:pt x="117269" y="234538"/>
                  </a:lnTo>
                  <a:cubicBezTo>
                    <a:pt x="52503" y="234538"/>
                    <a:pt x="0" y="182035"/>
                    <a:pt x="0" y="117269"/>
                  </a:cubicBezTo>
                  <a:lnTo>
                    <a:pt x="0" y="117269"/>
                  </a:lnTo>
                  <a:cubicBezTo>
                    <a:pt x="0" y="52503"/>
                    <a:pt x="52503" y="0"/>
                    <a:pt x="117269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"/>
            <p:cNvSpPr txBox="1"/>
            <p:nvPr/>
          </p:nvSpPr>
          <p:spPr>
            <a:xfrm>
              <a:off x="0" y="-38100"/>
              <a:ext cx="4062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2"/>
          <p:cNvSpPr txBox="1"/>
          <p:nvPr/>
        </p:nvSpPr>
        <p:spPr>
          <a:xfrm>
            <a:off x="14993140" y="6290673"/>
            <a:ext cx="154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4200">
                <a:solidFill>
                  <a:srgbClr val="F5F5F5"/>
                </a:solidFill>
              </a:rPr>
              <a:t>8</a:t>
            </a:r>
            <a:endParaRPr/>
          </a:p>
        </p:txBody>
      </p:sp>
      <p:sp>
        <p:nvSpPr>
          <p:cNvPr id="237" name="Google Shape;237;p2"/>
          <p:cNvSpPr txBox="1"/>
          <p:nvPr/>
        </p:nvSpPr>
        <p:spPr>
          <a:xfrm>
            <a:off x="19178400" y="5379850"/>
            <a:ext cx="1296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DDD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"/>
          <p:cNvGrpSpPr/>
          <p:nvPr/>
        </p:nvGrpSpPr>
        <p:grpSpPr>
          <a:xfrm>
            <a:off x="8822425" y="891550"/>
            <a:ext cx="8110130" cy="8269977"/>
            <a:chOff x="0" y="-38100"/>
            <a:chExt cx="2187552" cy="1788838"/>
          </a:xfrm>
        </p:grpSpPr>
        <p:sp>
          <p:nvSpPr>
            <p:cNvPr id="243" name="Google Shape;243;p3"/>
            <p:cNvSpPr/>
            <p:nvPr/>
          </p:nvSpPr>
          <p:spPr>
            <a:xfrm>
              <a:off x="0" y="0"/>
              <a:ext cx="2187552" cy="1750738"/>
            </a:xfrm>
            <a:custGeom>
              <a:rect b="b" l="l" r="r" t="t"/>
              <a:pathLst>
                <a:path extrusionOk="0" h="1750738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1701192"/>
                  </a:lnTo>
                  <a:cubicBezTo>
                    <a:pt x="2187552" y="1714332"/>
                    <a:pt x="2182332" y="1726935"/>
                    <a:pt x="2173040" y="1736226"/>
                  </a:cubicBezTo>
                  <a:cubicBezTo>
                    <a:pt x="2163749" y="1745518"/>
                    <a:pt x="2151147" y="1750738"/>
                    <a:pt x="2138007" y="1750738"/>
                  </a:cubicBezTo>
                  <a:lnTo>
                    <a:pt x="49545" y="1750738"/>
                  </a:lnTo>
                  <a:cubicBezTo>
                    <a:pt x="36405" y="1750738"/>
                    <a:pt x="23803" y="1745518"/>
                    <a:pt x="14511" y="1736226"/>
                  </a:cubicBezTo>
                  <a:cubicBezTo>
                    <a:pt x="5220" y="1726935"/>
                    <a:pt x="0" y="1714332"/>
                    <a:pt x="0" y="1701192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103750" lIns="103750" spcFirstLastPara="1" rIns="103750" wrap="square" tIns="103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 txBox="1"/>
            <p:nvPr/>
          </p:nvSpPr>
          <p:spPr>
            <a:xfrm>
              <a:off x="0" y="-38100"/>
              <a:ext cx="2187552" cy="178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650" lIns="57650" spcFirstLastPara="1" rIns="57650" wrap="square" tIns="5765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3"/>
          <p:cNvGrpSpPr/>
          <p:nvPr/>
        </p:nvGrpSpPr>
        <p:grpSpPr>
          <a:xfrm>
            <a:off x="1028700" y="891550"/>
            <a:ext cx="7457484" cy="8269870"/>
            <a:chOff x="0" y="-38100"/>
            <a:chExt cx="1869559" cy="2324303"/>
          </a:xfrm>
        </p:grpSpPr>
        <p:sp>
          <p:nvSpPr>
            <p:cNvPr id="246" name="Google Shape;246;p3"/>
            <p:cNvSpPr/>
            <p:nvPr/>
          </p:nvSpPr>
          <p:spPr>
            <a:xfrm>
              <a:off x="0" y="0"/>
              <a:ext cx="1869559" cy="2286203"/>
            </a:xfrm>
            <a:custGeom>
              <a:rect b="b" l="l" r="r" t="t"/>
              <a:pathLst>
                <a:path extrusionOk="0" h="2286203" w="1869559">
                  <a:moveTo>
                    <a:pt x="58670" y="0"/>
                  </a:moveTo>
                  <a:lnTo>
                    <a:pt x="1810889" y="0"/>
                  </a:lnTo>
                  <a:cubicBezTo>
                    <a:pt x="1843292" y="0"/>
                    <a:pt x="1869559" y="26267"/>
                    <a:pt x="1869559" y="58670"/>
                  </a:cubicBezTo>
                  <a:lnTo>
                    <a:pt x="1869559" y="2227533"/>
                  </a:lnTo>
                  <a:cubicBezTo>
                    <a:pt x="1869559" y="2243093"/>
                    <a:pt x="1863378" y="2258016"/>
                    <a:pt x="1852375" y="2269019"/>
                  </a:cubicBezTo>
                  <a:cubicBezTo>
                    <a:pt x="1841372" y="2280022"/>
                    <a:pt x="1826449" y="2286203"/>
                    <a:pt x="1810889" y="2286203"/>
                  </a:cubicBezTo>
                  <a:lnTo>
                    <a:pt x="58670" y="2286203"/>
                  </a:lnTo>
                  <a:cubicBezTo>
                    <a:pt x="43110" y="2286203"/>
                    <a:pt x="28187" y="2280022"/>
                    <a:pt x="17184" y="2269019"/>
                  </a:cubicBezTo>
                  <a:cubicBezTo>
                    <a:pt x="6181" y="2258016"/>
                    <a:pt x="0" y="2243093"/>
                    <a:pt x="0" y="2227533"/>
                  </a:cubicBezTo>
                  <a:lnTo>
                    <a:pt x="0" y="58670"/>
                  </a:lnTo>
                  <a:cubicBezTo>
                    <a:pt x="0" y="26267"/>
                    <a:pt x="26267" y="0"/>
                    <a:pt x="5867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 txBox="1"/>
            <p:nvPr/>
          </p:nvSpPr>
          <p:spPr>
            <a:xfrm>
              <a:off x="0" y="-38100"/>
              <a:ext cx="1869559" cy="2324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3"/>
          <p:cNvSpPr/>
          <p:nvPr/>
        </p:nvSpPr>
        <p:spPr>
          <a:xfrm>
            <a:off x="2341770" y="7748724"/>
            <a:ext cx="888295" cy="754243"/>
          </a:xfrm>
          <a:custGeom>
            <a:rect b="b" l="l" r="r" t="t"/>
            <a:pathLst>
              <a:path extrusionOk="0" h="754243" w="888295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3"/>
          <p:cNvSpPr txBox="1"/>
          <p:nvPr/>
        </p:nvSpPr>
        <p:spPr>
          <a:xfrm>
            <a:off x="1827035" y="1486720"/>
            <a:ext cx="4275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29">
                <a:solidFill>
                  <a:srgbClr val="1A1A1A"/>
                </a:solidFill>
              </a:rPr>
              <a:t>Problem</a:t>
            </a:r>
            <a:endParaRPr/>
          </a:p>
        </p:txBody>
      </p:sp>
      <p:sp>
        <p:nvSpPr>
          <p:cNvPr id="250" name="Google Shape;250;p3"/>
          <p:cNvSpPr txBox="1"/>
          <p:nvPr/>
        </p:nvSpPr>
        <p:spPr>
          <a:xfrm>
            <a:off x="1418400" y="2764825"/>
            <a:ext cx="6865200" cy="53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"I spent 8 hours researching how to book Paris  with my points. I still don't know if I did it right."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- Marcus, 34  (used 487K Chase points)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Reality</a:t>
            </a:r>
            <a:endParaRPr b="1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$5.4 Billion capital market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💰 10.8M Americans lose $500/year on bad point redemptions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⏰ Average 8 hours researching EACH trip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😰 57% feel "overwhelmed" by points options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🤯 Existing tools show 47 choices but NO answer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3"/>
          <p:cNvSpPr txBox="1"/>
          <p:nvPr/>
        </p:nvSpPr>
        <p:spPr>
          <a:xfrm>
            <a:off x="3400010" y="7702936"/>
            <a:ext cx="350390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Fauget Inc.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1980875" y="8036025"/>
            <a:ext cx="1296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"/>
          <p:cNvSpPr txBox="1"/>
          <p:nvPr/>
        </p:nvSpPr>
        <p:spPr>
          <a:xfrm>
            <a:off x="9227610" y="1486720"/>
            <a:ext cx="4275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29">
                <a:solidFill>
                  <a:srgbClr val="1A1A1A"/>
                </a:solidFill>
              </a:rPr>
              <a:t>Solution</a:t>
            </a:r>
            <a:endParaRPr/>
          </a:p>
        </p:txBody>
      </p:sp>
      <p:sp>
        <p:nvSpPr>
          <p:cNvPr id="254" name="Google Shape;254;p3"/>
          <p:cNvSpPr txBox="1"/>
          <p:nvPr/>
        </p:nvSpPr>
        <p:spPr>
          <a:xfrm>
            <a:off x="9070050" y="2746125"/>
            <a:ext cx="76773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RewardWise tells you EXACTLY what to book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Not 47 options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answer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"Business class to Paris from NY,  June, 2 people"      </a:t>
            </a:r>
            <a:r>
              <a:rPr b="1"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endParaRPr b="1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OUTPUT :                                   </a:t>
            </a:r>
            <a:endParaRPr b="1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 ✅ </a:t>
            </a: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Transfer 140K Chase → Air France 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     Save $8,160 vs cash 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       Value: 5.8¢/point </a:t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"/>
          <p:cNvGrpSpPr/>
          <p:nvPr/>
        </p:nvGrpSpPr>
        <p:grpSpPr>
          <a:xfrm>
            <a:off x="607775" y="2926275"/>
            <a:ext cx="8351209" cy="7090834"/>
            <a:chOff x="0" y="-38100"/>
            <a:chExt cx="1334464" cy="1445516"/>
          </a:xfrm>
        </p:grpSpPr>
        <p:sp>
          <p:nvSpPr>
            <p:cNvPr id="260" name="Google Shape;260;p4"/>
            <p:cNvSpPr/>
            <p:nvPr/>
          </p:nvSpPr>
          <p:spPr>
            <a:xfrm>
              <a:off x="0" y="0"/>
              <a:ext cx="1334464" cy="1407416"/>
            </a:xfrm>
            <a:custGeom>
              <a:rect b="b" l="l" r="r" t="t"/>
              <a:pathLst>
                <a:path extrusionOk="0" h="140741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29490"/>
                  </a:lnTo>
                  <a:cubicBezTo>
                    <a:pt x="1334464" y="1350157"/>
                    <a:pt x="1326254" y="1369978"/>
                    <a:pt x="1311639" y="1384592"/>
                  </a:cubicBezTo>
                  <a:cubicBezTo>
                    <a:pt x="1297025" y="1399206"/>
                    <a:pt x="1277204" y="1407416"/>
                    <a:pt x="1256537" y="1407416"/>
                  </a:cubicBezTo>
                  <a:lnTo>
                    <a:pt x="77927" y="1407416"/>
                  </a:lnTo>
                  <a:cubicBezTo>
                    <a:pt x="57259" y="1407416"/>
                    <a:pt x="37438" y="1399206"/>
                    <a:pt x="22824" y="1384592"/>
                  </a:cubicBezTo>
                  <a:cubicBezTo>
                    <a:pt x="8210" y="1369978"/>
                    <a:pt x="0" y="1350157"/>
                    <a:pt x="0" y="132949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 txBox="1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4"/>
          <p:cNvGrpSpPr/>
          <p:nvPr/>
        </p:nvGrpSpPr>
        <p:grpSpPr>
          <a:xfrm>
            <a:off x="9364100" y="3116500"/>
            <a:ext cx="8351209" cy="6900604"/>
            <a:chOff x="0" y="-38100"/>
            <a:chExt cx="1334464" cy="1445516"/>
          </a:xfrm>
        </p:grpSpPr>
        <p:sp>
          <p:nvSpPr>
            <p:cNvPr id="263" name="Google Shape;263;p4"/>
            <p:cNvSpPr/>
            <p:nvPr/>
          </p:nvSpPr>
          <p:spPr>
            <a:xfrm>
              <a:off x="0" y="0"/>
              <a:ext cx="1334464" cy="1407416"/>
            </a:xfrm>
            <a:custGeom>
              <a:rect b="b" l="l" r="r" t="t"/>
              <a:pathLst>
                <a:path extrusionOk="0" h="140741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29490"/>
                  </a:lnTo>
                  <a:cubicBezTo>
                    <a:pt x="1334464" y="1350157"/>
                    <a:pt x="1326254" y="1369978"/>
                    <a:pt x="1311639" y="1384592"/>
                  </a:cubicBezTo>
                  <a:cubicBezTo>
                    <a:pt x="1297025" y="1399206"/>
                    <a:pt x="1277204" y="1407416"/>
                    <a:pt x="1256537" y="1407416"/>
                  </a:cubicBezTo>
                  <a:lnTo>
                    <a:pt x="77927" y="1407416"/>
                  </a:lnTo>
                  <a:cubicBezTo>
                    <a:pt x="57259" y="1407416"/>
                    <a:pt x="37438" y="1399206"/>
                    <a:pt x="22824" y="1384592"/>
                  </a:cubicBezTo>
                  <a:cubicBezTo>
                    <a:pt x="8210" y="1369978"/>
                    <a:pt x="0" y="1350157"/>
                    <a:pt x="0" y="132949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 txBox="1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4"/>
          <p:cNvSpPr txBox="1"/>
          <p:nvPr/>
        </p:nvSpPr>
        <p:spPr>
          <a:xfrm>
            <a:off x="726065" y="2469997"/>
            <a:ext cx="445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Marcus Miller</a:t>
            </a:r>
            <a:endParaRPr/>
          </a:p>
        </p:txBody>
      </p:sp>
      <p:sp>
        <p:nvSpPr>
          <p:cNvPr id="266" name="Google Shape;266;p4"/>
          <p:cNvSpPr txBox="1"/>
          <p:nvPr/>
        </p:nvSpPr>
        <p:spPr>
          <a:xfrm>
            <a:off x="838624" y="3316475"/>
            <a:ext cx="6843300" cy="7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💼 Creative Services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Manager at Disney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📍 LA, CA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✈️ 8-12 work trips/year +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personal travel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PAIN POINTS: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Time drain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Analysis paralysis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Decision anxiety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Wasted value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Constant second-guessing              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4"/>
          <p:cNvSpPr txBox="1"/>
          <p:nvPr/>
        </p:nvSpPr>
        <p:spPr>
          <a:xfrm>
            <a:off x="9575546" y="2470009"/>
            <a:ext cx="445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Maria Gavras</a:t>
            </a:r>
            <a:endParaRPr/>
          </a:p>
        </p:txBody>
      </p:sp>
      <p:sp>
        <p:nvSpPr>
          <p:cNvPr id="268" name="Google Shape;268;p4"/>
          <p:cNvSpPr txBox="1"/>
          <p:nvPr/>
        </p:nvSpPr>
        <p:spPr>
          <a:xfrm>
            <a:off x="9704201" y="3524475"/>
            <a:ext cx="4456500" cy="6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💼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Associate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Professor at NYU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📍New York City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✈️  2 Greece trips/year with family of 4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PAIN POINTS: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Analysis paralysis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Feels overwhelmed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No time to research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Afraid to waste points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Second-guesses choices 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4"/>
          <p:cNvSpPr txBox="1"/>
          <p:nvPr/>
        </p:nvSpPr>
        <p:spPr>
          <a:xfrm>
            <a:off x="2173296" y="523033"/>
            <a:ext cx="1394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CA406"/>
                </a:solidFill>
                <a:latin typeface="Arial"/>
                <a:ea typeface="Arial"/>
                <a:cs typeface="Arial"/>
                <a:sym typeface="Arial"/>
              </a:rPr>
              <a:t>Customer Persona</a:t>
            </a:r>
            <a:endParaRPr sz="6000"/>
          </a:p>
        </p:txBody>
      </p:sp>
      <p:sp>
        <p:nvSpPr>
          <p:cNvPr id="270" name="Google Shape;270;p4"/>
          <p:cNvSpPr txBox="1"/>
          <p:nvPr/>
        </p:nvSpPr>
        <p:spPr>
          <a:xfrm>
            <a:off x="5469900" y="6301525"/>
            <a:ext cx="36591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GOALS: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Clear verdict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Quick answer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Booking confidence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Expert validation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1" name="Google Shape;271;p4" title="Screenshot 2026-02-08 at 11.18.2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4300" y="2062013"/>
            <a:ext cx="2921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" title="Screenshot 2026-02-08 at 11.19.1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575" y="2270625"/>
            <a:ext cx="37909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"/>
          <p:cNvSpPr txBox="1"/>
          <p:nvPr/>
        </p:nvSpPr>
        <p:spPr>
          <a:xfrm>
            <a:off x="14032050" y="6026250"/>
            <a:ext cx="36591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GOALS: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Visit family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Stretch budget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Simple solution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Affordable travel</a:t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"/>
          <p:cNvSpPr txBox="1"/>
          <p:nvPr/>
        </p:nvSpPr>
        <p:spPr>
          <a:xfrm>
            <a:off x="1718704" y="1879797"/>
            <a:ext cx="1195929" cy="714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4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1718704" y="4757839"/>
            <a:ext cx="1195929" cy="714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4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280" name="Google Shape;28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00"/>
            <a:ext cx="18288001" cy="1012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DD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5"/>
          <p:cNvGrpSpPr/>
          <p:nvPr/>
        </p:nvGrpSpPr>
        <p:grpSpPr>
          <a:xfrm>
            <a:off x="2770000" y="571325"/>
            <a:ext cx="12198358" cy="1576936"/>
            <a:chOff x="0" y="-38100"/>
            <a:chExt cx="4274726" cy="991036"/>
          </a:xfrm>
        </p:grpSpPr>
        <p:sp>
          <p:nvSpPr>
            <p:cNvPr id="286" name="Google Shape;286;p5"/>
            <p:cNvSpPr/>
            <p:nvPr/>
          </p:nvSpPr>
          <p:spPr>
            <a:xfrm>
              <a:off x="0" y="0"/>
              <a:ext cx="4274726" cy="952936"/>
            </a:xfrm>
            <a:custGeom>
              <a:rect b="b" l="l" r="r" t="t"/>
              <a:pathLst>
                <a:path extrusionOk="0"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0300" lIns="90300" spcFirstLastPara="1" rIns="90300" wrap="square" tIns="90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 txBox="1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175" lIns="50175" spcFirstLastPara="1" rIns="50175" wrap="square" tIns="50175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5"/>
          <p:cNvSpPr txBox="1"/>
          <p:nvPr/>
        </p:nvSpPr>
        <p:spPr>
          <a:xfrm>
            <a:off x="3319799" y="571323"/>
            <a:ext cx="1164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1A1A1A"/>
                </a:solidFill>
              </a:rPr>
              <a:t>Competitive</a:t>
            </a:r>
            <a:r>
              <a:rPr b="1" lang="en-US" sz="8000">
                <a:solidFill>
                  <a:srgbClr val="1A1A1A"/>
                </a:solidFill>
              </a:rPr>
              <a:t> Advantage</a:t>
            </a:r>
            <a:endParaRPr/>
          </a:p>
        </p:txBody>
      </p:sp>
      <p:sp>
        <p:nvSpPr>
          <p:cNvPr id="289" name="Google Shape;289;p5"/>
          <p:cNvSpPr txBox="1"/>
          <p:nvPr/>
        </p:nvSpPr>
        <p:spPr>
          <a:xfrm>
            <a:off x="1028705" y="2564856"/>
            <a:ext cx="427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</a:rPr>
              <a:t>What exists today</a:t>
            </a:r>
            <a:endParaRPr sz="3200"/>
          </a:p>
        </p:txBody>
      </p:sp>
      <p:graphicFrame>
        <p:nvGraphicFramePr>
          <p:cNvPr id="290" name="Google Shape;290;p5"/>
          <p:cNvGraphicFramePr/>
          <p:nvPr/>
        </p:nvGraphicFramePr>
        <p:xfrm>
          <a:off x="1028700" y="33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{E3E2AF95-469F-4F96-A0F9-95A82EC5A980}</a:tableStyleId>
              </a:tblPr>
              <a:tblGrid>
                <a:gridCol w="2033350"/>
                <a:gridCol w="5101875"/>
                <a:gridCol w="8801975"/>
              </a:tblGrid>
              <a:tr h="69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Hopper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Price prediction for booking 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through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cash only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Uses AI to user choose between ‘buy now or wait’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Valued at $5 BILLION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120M+ downloads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Point.me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 flights with multiple results for user to decide 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AI decision engine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Raised $38.5M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PointYeah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Similar 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</a:t>
                      </a: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engine with user left to decide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clear recommendation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Shows 20+ options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5"/>
          <p:cNvSpPr txBox="1"/>
          <p:nvPr/>
        </p:nvSpPr>
        <p:spPr>
          <a:xfrm>
            <a:off x="1028705" y="7612206"/>
            <a:ext cx="427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</a:rPr>
              <a:t>What we’re building</a:t>
            </a:r>
            <a:endParaRPr b="1" sz="3200">
              <a:solidFill>
                <a:srgbClr val="1A1A1A"/>
              </a:solidFill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1028700" y="8361075"/>
            <a:ext cx="14757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native decision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Validated market of $5Billion and clear technical gaps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1280750" y="6678825"/>
            <a:ext cx="1349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All competitors leave final decision to overwhelmed user </a:t>
            </a:r>
            <a:endParaRPr b="1" sz="3200">
              <a:solidFill>
                <a:srgbClr val="ECA40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DD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8"/>
          <p:cNvGrpSpPr/>
          <p:nvPr/>
        </p:nvGrpSpPr>
        <p:grpSpPr>
          <a:xfrm>
            <a:off x="6378625" y="884051"/>
            <a:ext cx="5319469" cy="1416686"/>
            <a:chOff x="0" y="-38100"/>
            <a:chExt cx="4274726" cy="991036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4274726" cy="952936"/>
            </a:xfrm>
            <a:custGeom>
              <a:rect b="b" l="l" r="r" t="t"/>
              <a:pathLst>
                <a:path extrusionOk="0"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472700" y="3128075"/>
            <a:ext cx="4317372" cy="6130144"/>
            <a:chOff x="0" y="-38100"/>
            <a:chExt cx="1816235" cy="1686051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1816235" cy="1647951"/>
            </a:xfrm>
            <a:custGeom>
              <a:rect b="b" l="l" r="r" t="t"/>
              <a:pathLst>
                <a:path extrusionOk="0"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5044537" y="3128825"/>
            <a:ext cx="4157544" cy="6130144"/>
            <a:chOff x="0" y="-38100"/>
            <a:chExt cx="1816235" cy="1686051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1816235" cy="1647951"/>
            </a:xfrm>
            <a:custGeom>
              <a:rect b="b" l="l" r="r" t="t"/>
              <a:pathLst>
                <a:path extrusionOk="0"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8"/>
          <p:cNvGrpSpPr/>
          <p:nvPr/>
        </p:nvGrpSpPr>
        <p:grpSpPr>
          <a:xfrm>
            <a:off x="9358400" y="3128875"/>
            <a:ext cx="4007159" cy="6221447"/>
            <a:chOff x="0" y="-38100"/>
            <a:chExt cx="1816235" cy="1728900"/>
          </a:xfrm>
        </p:grpSpPr>
        <p:sp>
          <p:nvSpPr>
            <p:cNvPr id="308" name="Google Shape;308;p8"/>
            <p:cNvSpPr/>
            <p:nvPr/>
          </p:nvSpPr>
          <p:spPr>
            <a:xfrm>
              <a:off x="0" y="0"/>
              <a:ext cx="1816235" cy="1647951"/>
            </a:xfrm>
            <a:custGeom>
              <a:rect b="b" l="l" r="r" t="t"/>
              <a:pathLst>
                <a:path extrusionOk="0"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0" y="-38100"/>
              <a:ext cx="1816200" cy="17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8"/>
          <p:cNvSpPr/>
          <p:nvPr/>
        </p:nvSpPr>
        <p:spPr>
          <a:xfrm>
            <a:off x="13616900" y="3280000"/>
            <a:ext cx="4009339" cy="5977942"/>
          </a:xfrm>
          <a:custGeom>
            <a:rect b="b" l="l" r="r" t="t"/>
            <a:pathLst>
              <a:path extrusionOk="0" h="1647951" w="1816235">
                <a:moveTo>
                  <a:pt x="117059" y="0"/>
                </a:moveTo>
                <a:lnTo>
                  <a:pt x="1699175" y="0"/>
                </a:lnTo>
                <a:cubicBezTo>
                  <a:pt x="1763825" y="0"/>
                  <a:pt x="1816235" y="52409"/>
                  <a:pt x="1816235" y="117059"/>
                </a:cubicBezTo>
                <a:lnTo>
                  <a:pt x="1816235" y="1530892"/>
                </a:lnTo>
                <a:cubicBezTo>
                  <a:pt x="1816235" y="1595542"/>
                  <a:pt x="1763825" y="1647951"/>
                  <a:pt x="1699175" y="1647951"/>
                </a:cubicBezTo>
                <a:lnTo>
                  <a:pt x="117059" y="1647951"/>
                </a:lnTo>
                <a:cubicBezTo>
                  <a:pt x="52409" y="1647951"/>
                  <a:pt x="0" y="1595542"/>
                  <a:pt x="0" y="1530892"/>
                </a:cubicBezTo>
                <a:lnTo>
                  <a:pt x="0" y="117059"/>
                </a:lnTo>
                <a:cubicBezTo>
                  <a:pt x="0" y="52409"/>
                  <a:pt x="52409" y="0"/>
                  <a:pt x="117059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1718715" y="3640050"/>
            <a:ext cx="465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1035476" y="2516615"/>
            <a:ext cx="29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Week 1-2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3858438" y="3036740"/>
            <a:ext cx="1057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3319799" y="1019223"/>
            <a:ext cx="1164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ECA406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627825" y="3429000"/>
            <a:ext cx="4007100" cy="6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Search interface (origin, destination, dates)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Points portfolio input  Award chart database (United, Chase, Amex)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Basic recommendation algorithm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u="sng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Deliverable: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Working search → Get recommendation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5590877" y="2540377"/>
            <a:ext cx="29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Week 3-4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5350725" y="3476550"/>
            <a:ext cx="3695400" cy="6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AI recommendation engine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Value calculation (¢/point, cash equivalent)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Result display with explanation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Deep-links to airline websites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u="sng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Deliverable: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recommend → guide" flow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9878617" y="2588052"/>
            <a:ext cx="29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Week 5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9606775" y="3571900"/>
            <a:ext cx="3592500" cy="52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User authentication (Google OAuth)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Portfolio dashboard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Booking tracking (user confirms completion)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Success metrics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u="sng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Deliverable: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Polished user experience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14123543" y="2573752"/>
            <a:ext cx="296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A1A1A"/>
                </a:solidFill>
              </a:rPr>
              <a:t>Week 6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13810650" y="3543275"/>
            <a:ext cx="35925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Bug fixes &amp; testing  Landing page 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Deploy to production  </a:t>
            </a:r>
            <a:endParaRPr>
              <a:solidFill>
                <a:schemeClr val="dk1"/>
              </a:solidFill>
            </a:endParaRPr>
          </a:p>
          <a:p>
            <a:pPr indent="-259079" lvl="1" marL="51816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Char char="•"/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ProductHunt launch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u="sng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Deliverable:</a:t>
            </a: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Live product with real users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9"/>
          <p:cNvGrpSpPr/>
          <p:nvPr/>
        </p:nvGrpSpPr>
        <p:grpSpPr>
          <a:xfrm>
            <a:off x="9144000" y="1398707"/>
            <a:ext cx="1462910" cy="1596355"/>
            <a:chOff x="0" y="-38100"/>
            <a:chExt cx="406400" cy="443471"/>
          </a:xfrm>
        </p:grpSpPr>
        <p:sp>
          <p:nvSpPr>
            <p:cNvPr id="327" name="Google Shape;327;p9"/>
            <p:cNvSpPr/>
            <p:nvPr/>
          </p:nvSpPr>
          <p:spPr>
            <a:xfrm>
              <a:off x="0" y="0"/>
              <a:ext cx="406400" cy="405371"/>
            </a:xfrm>
            <a:custGeom>
              <a:rect b="b" l="l" r="r" t="t"/>
              <a:pathLst>
                <a:path extrusionOk="0"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1919571" y="1028700"/>
            <a:ext cx="5760720" cy="8229600"/>
            <a:chOff x="0" y="0"/>
            <a:chExt cx="4445000" cy="6350000"/>
          </a:xfrm>
        </p:grpSpPr>
        <p:sp>
          <p:nvSpPr>
            <p:cNvPr id="330" name="Google Shape;330;p9"/>
            <p:cNvSpPr/>
            <p:nvPr/>
          </p:nvSpPr>
          <p:spPr>
            <a:xfrm>
              <a:off x="0" y="0"/>
              <a:ext cx="4445000" cy="6350000"/>
            </a:xfrm>
            <a:custGeom>
              <a:rect b="b" l="l" r="r" t="t"/>
              <a:pathLst>
                <a:path extrusionOk="0" h="6350000" w="4445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33284" r="-133284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0" y="0"/>
              <a:ext cx="4445000" cy="6350000"/>
            </a:xfrm>
            <a:custGeom>
              <a:rect b="b" l="l" r="r" t="t"/>
              <a:pathLst>
                <a:path extrusionOk="0" h="6350000" w="4445000">
                  <a:moveTo>
                    <a:pt x="3429000" y="19050"/>
                  </a:moveTo>
                  <a:cubicBezTo>
                    <a:pt x="3978910" y="19050"/>
                    <a:pt x="4425950" y="466090"/>
                    <a:pt x="4425950" y="1016000"/>
                  </a:cubicBezTo>
                  <a:lnTo>
                    <a:pt x="4425950" y="5334000"/>
                  </a:lnTo>
                  <a:cubicBezTo>
                    <a:pt x="4425950" y="5883910"/>
                    <a:pt x="3978910" y="6330950"/>
                    <a:pt x="3429000" y="6330950"/>
                  </a:cubicBezTo>
                  <a:lnTo>
                    <a:pt x="1016000" y="6330950"/>
                  </a:lnTo>
                  <a:cubicBezTo>
                    <a:pt x="466090" y="6330950"/>
                    <a:pt x="19050" y="5883910"/>
                    <a:pt x="19050" y="5334000"/>
                  </a:cubicBezTo>
                  <a:lnTo>
                    <a:pt x="19050" y="1016000"/>
                  </a:lnTo>
                  <a:cubicBezTo>
                    <a:pt x="19050" y="466090"/>
                    <a:pt x="466090" y="19050"/>
                    <a:pt x="1016000" y="19050"/>
                  </a:cubicBezTo>
                  <a:lnTo>
                    <a:pt x="3429000" y="19050"/>
                  </a:lnTo>
                  <a:moveTo>
                    <a:pt x="3429000" y="0"/>
                  </a:moveTo>
                  <a:lnTo>
                    <a:pt x="1016000" y="0"/>
                  </a:lnTo>
                  <a:cubicBezTo>
                    <a:pt x="454660" y="0"/>
                    <a:pt x="0" y="454660"/>
                    <a:pt x="0" y="1016000"/>
                  </a:cubicBezTo>
                  <a:lnTo>
                    <a:pt x="0" y="5334000"/>
                  </a:lnTo>
                  <a:cubicBezTo>
                    <a:pt x="0" y="5895340"/>
                    <a:pt x="454660" y="6350000"/>
                    <a:pt x="1016000" y="6350000"/>
                  </a:cubicBezTo>
                  <a:lnTo>
                    <a:pt x="3429000" y="6350000"/>
                  </a:lnTo>
                  <a:cubicBezTo>
                    <a:pt x="3990340" y="6350000"/>
                    <a:pt x="4445000" y="5895340"/>
                    <a:pt x="4445000" y="5334000"/>
                  </a:cubicBezTo>
                  <a:lnTo>
                    <a:pt x="4445000" y="1016000"/>
                  </a:lnTo>
                  <a:cubicBezTo>
                    <a:pt x="4445000" y="454660"/>
                    <a:pt x="3990340" y="0"/>
                    <a:pt x="3429000" y="0"/>
                  </a:cubicBezTo>
                  <a:lnTo>
                    <a:pt x="342900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9"/>
          <p:cNvSpPr txBox="1"/>
          <p:nvPr/>
        </p:nvSpPr>
        <p:spPr>
          <a:xfrm>
            <a:off x="9277490" y="1879797"/>
            <a:ext cx="1195929" cy="714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4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10916333" y="1583167"/>
            <a:ext cx="427593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29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10916333" y="2205990"/>
            <a:ext cx="5527820" cy="71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6b6ce0fe7_2_2"/>
          <p:cNvSpPr txBox="1"/>
          <p:nvPr/>
        </p:nvSpPr>
        <p:spPr>
          <a:xfrm>
            <a:off x="1178421" y="8"/>
            <a:ext cx="1394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CA406"/>
                </a:solidFill>
              </a:rPr>
              <a:t>AI Hypothesis</a:t>
            </a:r>
            <a:endParaRPr sz="6000"/>
          </a:p>
        </p:txBody>
      </p:sp>
      <p:sp>
        <p:nvSpPr>
          <p:cNvPr id="340" name="Google Shape;340;g3c6b6ce0fe7_2_2"/>
          <p:cNvSpPr txBox="1"/>
          <p:nvPr/>
        </p:nvSpPr>
        <p:spPr>
          <a:xfrm>
            <a:off x="417850" y="1591800"/>
            <a:ext cx="8058600" cy="3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deliver high confidence(&gt;90% correctness)cash vs points recommendations instantly(&lt;5) by combining ML based ranking, RAG grounded program rules, and LLM powered verdict explanation.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time poor travellers will make booking decisions faster and more confidently (&gt;50% reduction in decision time, &gt;75% positive verdict feedback), driving higher trust, repeat usage, premium subscription conversion.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g3c6b6ce0fe7_2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577" y="5439975"/>
            <a:ext cx="11111699" cy="426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6b6ce0fe7_2_17"/>
          <p:cNvSpPr txBox="1"/>
          <p:nvPr/>
        </p:nvSpPr>
        <p:spPr>
          <a:xfrm>
            <a:off x="1178421" y="8"/>
            <a:ext cx="1394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CA406"/>
                </a:solidFill>
              </a:rPr>
              <a:t>Why you should Join Rewardwise</a:t>
            </a:r>
            <a:r>
              <a:rPr b="1" lang="en-US" sz="6000">
                <a:solidFill>
                  <a:srgbClr val="ECA406"/>
                </a:solidFill>
              </a:rPr>
              <a:t> </a:t>
            </a:r>
            <a:endParaRPr sz="6000"/>
          </a:p>
        </p:txBody>
      </p:sp>
      <p:sp>
        <p:nvSpPr>
          <p:cNvPr id="347" name="Google Shape;347;g3c6b6ce0fe7_2_17"/>
          <p:cNvSpPr txBox="1"/>
          <p:nvPr/>
        </p:nvSpPr>
        <p:spPr>
          <a:xfrm>
            <a:off x="417850" y="1591800"/>
            <a:ext cx="8535900" cy="7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This isn't another AI wrapper. This is a real decision engine.</a:t>
            </a:r>
            <a:endParaRPr b="1" sz="24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lnSpc>
                <a:spcPct val="1625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What You'll Build:</a:t>
            </a:r>
            <a:endParaRPr b="1" sz="24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333B46"/>
              </a:buClr>
              <a:buSzPts val="2200"/>
              <a:buFont typeface="Microsoft Yahei"/>
              <a:buChar char="●"/>
            </a:pPr>
            <a:r>
              <a:rPr lang="en-US" sz="22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 ranking engine that makes real financial decisions</a:t>
            </a:r>
            <a:endParaRPr sz="22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200"/>
              <a:buFont typeface="Microsoft Yahei"/>
              <a:buChar char="●"/>
            </a:pPr>
            <a:r>
              <a:rPr lang="en-US" sz="22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ML + RAG + LLM orchestration systems</a:t>
            </a:r>
            <a:endParaRPr sz="22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200"/>
              <a:buFont typeface="Microsoft Yahei"/>
              <a:buChar char="●"/>
            </a:pPr>
            <a:r>
              <a:rPr lang="en-US" sz="22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Greenfield architecture from scratch</a:t>
            </a:r>
            <a:endParaRPr sz="22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200"/>
              <a:buFont typeface="Microsoft Yahei"/>
              <a:buChar char="●"/>
            </a:pPr>
            <a:r>
              <a:rPr lang="en-US" sz="22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Optimization under real-world constraints</a:t>
            </a:r>
            <a:endParaRPr sz="19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lnSpc>
                <a:spcPct val="1625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What You'll Gain:</a:t>
            </a:r>
            <a:endParaRPr b="1" sz="24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333B46"/>
              </a:buClr>
              <a:buSzPts val="2300"/>
              <a:buFont typeface="Microsoft Yahei"/>
              <a:buChar char="●"/>
            </a:pPr>
            <a:r>
              <a:rPr lang="en-US" sz="23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Real AI systems experience — beyond simple API integrations</a:t>
            </a:r>
            <a:endParaRPr sz="23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300"/>
              <a:buFont typeface="Microsoft Yahei"/>
              <a:buChar char="●"/>
            </a:pPr>
            <a:r>
              <a:rPr lang="en-US" sz="23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Early influence on model design and decision logic</a:t>
            </a:r>
            <a:endParaRPr sz="23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300"/>
              <a:buFont typeface="Microsoft Yahei"/>
              <a:buChar char="●"/>
            </a:pPr>
            <a:r>
              <a:rPr lang="en-US" sz="23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High-impact ownership in a greenfield product</a:t>
            </a:r>
            <a:endParaRPr sz="23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B46"/>
              </a:buClr>
              <a:buSzPts val="2300"/>
              <a:buFont typeface="Microsoft Yahei"/>
              <a:buChar char="●"/>
            </a:pPr>
            <a:r>
              <a:rPr lang="en-US" sz="2300">
                <a:solidFill>
                  <a:srgbClr val="333B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Fast iteration cycles with measurable user outcomes</a:t>
            </a:r>
            <a:endParaRPr sz="23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lnSpc>
                <a:spcPct val="1625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333B4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68b71d955_0_283"/>
          <p:cNvSpPr txBox="1"/>
          <p:nvPr/>
        </p:nvSpPr>
        <p:spPr>
          <a:xfrm>
            <a:off x="2568699" y="1076325"/>
            <a:ext cx="131505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ECA406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b="1" i="0" lang="en-US" sz="6399" u="none" cap="none" strike="noStrike">
                <a:solidFill>
                  <a:srgbClr val="ECA406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NEEDS</a:t>
            </a:r>
            <a:r>
              <a:rPr b="1" i="0" lang="en-US" sz="6399" u="none" cap="none" strike="noStrike">
                <a:solidFill>
                  <a:srgbClr val="ECA406"/>
                </a:solidFill>
                <a:latin typeface="Arial"/>
                <a:ea typeface="Arial"/>
                <a:cs typeface="Arial"/>
                <a:sym typeface="Arial"/>
              </a:rPr>
              <a:t> &amp; EXPECTATIONS</a:t>
            </a:r>
            <a:endParaRPr/>
          </a:p>
        </p:txBody>
      </p:sp>
      <p:sp>
        <p:nvSpPr>
          <p:cNvPr id="353" name="Google Shape;353;g3c68b71d955_0_283"/>
          <p:cNvSpPr txBox="1"/>
          <p:nvPr/>
        </p:nvSpPr>
        <p:spPr>
          <a:xfrm>
            <a:off x="1486066" y="2717192"/>
            <a:ext cx="52140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FRONTEND (React)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user interface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 designs/mockups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Mobile-responsive  (IOS)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g3c68b71d955_0_283"/>
          <p:cNvSpPr txBox="1"/>
          <p:nvPr/>
        </p:nvSpPr>
        <p:spPr>
          <a:xfrm>
            <a:off x="1486075" y="5294080"/>
            <a:ext cx="68031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(Node.js)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API &amp; database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 recommendation algorithm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 AI (Claude/GPT)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g3c68b71d955_0_283"/>
          <p:cNvSpPr txBox="1"/>
          <p:nvPr/>
        </p:nvSpPr>
        <p:spPr>
          <a:xfrm>
            <a:off x="1620302" y="7870950"/>
            <a:ext cx="53625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FULL-STACK DEVELOPER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Help both frontend &amp; backend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59081" lvl="1" marL="51816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Handle integrations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g3c68b71d955_0_283" title="ChatGPT Image Feb 9, 2026, 11_14_00 AM.png"/>
          <p:cNvPicPr preferRelativeResize="0"/>
          <p:nvPr/>
        </p:nvPicPr>
        <p:blipFill rotWithShape="1">
          <a:blip r:embed="rId4">
            <a:alphaModFix/>
          </a:blip>
          <a:srcRect b="10482" l="0" r="0" t="0"/>
          <a:stretch/>
        </p:blipFill>
        <p:spPr>
          <a:xfrm>
            <a:off x="9388212" y="2717200"/>
            <a:ext cx="6993539" cy="659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 txBox="1"/>
          <p:nvPr/>
        </p:nvSpPr>
        <p:spPr>
          <a:xfrm>
            <a:off x="1293967" y="2544439"/>
            <a:ext cx="15700066" cy="2949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2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1028700" y="5061094"/>
            <a:ext cx="16230600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